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3" Type="http://schemas.openxmlformats.org/officeDocument/2006/relationships/viewProps" Target="viewProps.xml" /><Relationship Id="rId12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5" Type="http://schemas.openxmlformats.org/officeDocument/2006/relationships/tableStyles" Target="tableStyles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Presentation Slides (Day 3) - Extended Edition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Instructions: You can copy and generate the PPTX file to present to the Kong evaluators.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1: Title Slide</a:t>
            </a:r>
          </a:p>
          <a:p>
            <a:pPr lvl="0" indent="0" marL="0">
              <a:buNone/>
            </a:pPr>
            <a:r>
              <a:rPr b="1"/>
              <a:t>Title:</a:t>
            </a:r>
            <a:r>
              <a:rPr/>
              <a:t> Kong Konnect &amp; AI Gateway Implementation </a:t>
            </a:r>
            <a:r>
              <a:rPr b="1"/>
              <a:t>Subtitle:</a:t>
            </a:r>
            <a:r>
              <a:rPr/>
              <a:t> Case 1: Global Fintech Bank </a:t>
            </a:r>
            <a:r>
              <a:rPr b="1"/>
              <a:t>Presenter:</a:t>
            </a:r>
            <a:r>
              <a:rPr/>
              <a:t> [Your Name] - Solutions Architect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2: Phase 1 - Discovery and Requirements Mapping</a:t>
            </a:r>
          </a:p>
          <a:p>
            <a:pPr lvl="0" indent="0" marL="0">
              <a:buNone/>
            </a:pPr>
            <a:r>
              <a:rPr b="1"/>
              <a:t>The Client’s Challenge:</a:t>
            </a:r>
            <a:r>
              <a:rPr/>
              <a:t> The bank had monolithic architectures and silos, affecting Time to Market and security in the adoption of new technologies.</a:t>
            </a:r>
          </a:p>
          <a:p>
            <a:pPr lvl="0"/>
            <a:r>
              <a:rPr b="1"/>
              <a:t>Silos and Bottlenecks:</a:t>
            </a:r>
            <a:r>
              <a:rPr/>
              <a:t> Credit Cards, Loans, and Personal Banking teams blocked by central infrastructure.</a:t>
            </a:r>
          </a:p>
          <a:p>
            <a:pPr lvl="0"/>
            <a:r>
              <a:rPr b="1"/>
              <a:t>Performance:</a:t>
            </a:r>
            <a:r>
              <a:rPr/>
              <a:t> High latency in core systems under traffic spikes.</a:t>
            </a:r>
          </a:p>
          <a:p>
            <a:pPr lvl="0"/>
            <a:r>
              <a:rPr b="1"/>
              <a:t>Security and AI:</a:t>
            </a:r>
            <a:r>
              <a:rPr/>
              <a:t> Need to adopt LLMs without risk of sensitive data leakage (PII).</a:t>
            </a:r>
          </a:p>
          <a:p>
            <a:pPr lvl="0"/>
            <a:r>
              <a:rPr b="1"/>
              <a:t>Developer Experience:</a:t>
            </a:r>
            <a:r>
              <a:rPr/>
              <a:t> B2B partner onboarding extremely slow.</a:t>
            </a:r>
          </a:p>
        </p:txBody>
      </p:sp>
      <p:pic>
        <p:nvPicPr>
          <p:cNvPr descr="../Day1_Discovery/elaborados/aux/requirements_mappin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546100"/>
            <a:ext cx="5105400" cy="3708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3: Phase 2 - Architecture and Design (Blueprint)</a:t>
            </a:r>
          </a:p>
          <a:p>
            <a:pPr lvl="0" indent="0" marL="0">
              <a:buNone/>
            </a:pPr>
            <a:r>
              <a:rPr b="1"/>
              <a:t>Hybrid Architecture Optimized for Fintech:</a:t>
            </a:r>
          </a:p>
          <a:p>
            <a:pPr lvl="0" indent="0" marL="0">
              <a:buNone/>
            </a:pPr>
            <a:r>
              <a:rPr/>
              <a:t>We decided to separate the control plane (Konnect) from the data plane (EKS), guaranteeing isolation, PCI-DSS compliance, and ultra-low latency.</a:t>
            </a:r>
          </a:p>
          <a:p>
            <a:pPr lvl="0"/>
            <a:r>
              <a:rPr b="1"/>
              <a:t>Control Plane in Konnect (SaaS):</a:t>
            </a:r>
            <a:r>
              <a:rPr/>
              <a:t> Centralized governance (Single Pane of Glass) and strict RBAC.</a:t>
            </a:r>
          </a:p>
          <a:p>
            <a:pPr lvl="0"/>
            <a:r>
              <a:rPr b="1"/>
              <a:t>5 Dedicated Data Planes (EKS):</a:t>
            </a:r>
          </a:p>
          <a:p>
            <a:pPr lvl="1"/>
            <a:r>
              <a:rPr/>
              <a:t>4 Transactional Data Planes for isolation between BUs (Cards, Loans, Core, Personal).</a:t>
            </a:r>
          </a:p>
          <a:p>
            <a:pPr lvl="1"/>
            <a:r>
              <a:rPr/>
              <a:t>1 Dedicated AI Data Plane (</a:t>
            </a:r>
            <a:r>
              <a:rPr>
                <a:latin typeface="Courier"/>
              </a:rPr>
              <a:t>kong-ai-gateway</a:t>
            </a:r>
            <a:r>
              <a:rPr/>
              <a:t>) to separate token-intensive compute workloads.</a:t>
            </a:r>
          </a:p>
        </p:txBody>
      </p:sp>
      <p:pic>
        <p:nvPicPr>
          <p:cNvPr descr="../Day1_Discovery/elaborados/aux/architectu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58900"/>
            <a:ext cx="5105400" cy="2057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4: Phase 3 - Security and Traffic Implementation</a:t>
            </a:r>
          </a:p>
          <a:p>
            <a:pPr lvl="0" indent="0" marL="0">
              <a:buNone/>
            </a:pPr>
            <a:r>
              <a:rPr b="1"/>
              <a:t>API-level Governance without touching code:</a:t>
            </a:r>
          </a:p>
          <a:p>
            <a:pPr lvl="0"/>
            <a:r>
              <a:rPr b="1"/>
              <a:t>Rate Limiting:</a:t>
            </a:r>
            <a:r>
              <a:rPr/>
              <a:t> Implemented in the Cards ecosystem to protect legacy APIs against request spikes (Returning </a:t>
            </a:r>
            <a:r>
              <a:rPr>
                <a:latin typeface="Courier"/>
              </a:rPr>
              <a:t>429 Too Many Requests</a:t>
            </a:r>
            <a:r>
              <a:rPr/>
              <a:t>).</a:t>
            </a:r>
          </a:p>
          <a:p>
            <a:pPr lvl="0"/>
            <a:r>
              <a:rPr b="1"/>
              <a:t>OpenID Connect (OIDC):</a:t>
            </a:r>
            <a:r>
              <a:rPr/>
              <a:t> Native integration with the bank’s Identity Provider (Keycloak) for strict validation of Bearer tokens.</a:t>
            </a:r>
          </a:p>
          <a:p>
            <a:pPr lvl="0"/>
            <a:r>
              <a:rPr b="1"/>
              <a:t>Proxy-Cache:</a:t>
            </a:r>
            <a:r>
              <a:rPr/>
              <a:t> Caching frequent responses to reduce latency of overloaded microservices.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5: Phase 4 - Secure Artificial Intelligence (AI Gateway)</a:t>
            </a:r>
          </a:p>
          <a:p>
            <a:pPr lvl="0" indent="0" marL="0">
              <a:buNone/>
            </a:pPr>
            <a:r>
              <a:rPr b="1"/>
              <a:t>Protecting Bank data and controlling costs:</a:t>
            </a:r>
          </a:p>
          <a:p>
            <a:pPr lvl="0"/>
            <a:r>
              <a:rPr b="1"/>
              <a:t>Semantic Routing (UI):</a:t>
            </a:r>
            <a:r>
              <a:rPr/>
              <a:t> Native semantic routing. Developers just consume </a:t>
            </a:r>
            <a:r>
              <a:rPr>
                <a:latin typeface="Courier"/>
              </a:rPr>
              <a:t>/ai/chat/chat/completions</a:t>
            </a:r>
            <a:r>
              <a:rPr/>
              <a:t> without touching OpenAI credentials.</a:t>
            </a:r>
          </a:p>
          <a:p>
            <a:pPr lvl="0"/>
            <a:r>
              <a:rPr b="1"/>
              <a:t>AI Prompt Guard:</a:t>
            </a:r>
            <a:r>
              <a:rPr/>
              <a:t> Instant Regular Expressions (RegEx) blocking. If the payload contains credit card formats, the request is blocked </a:t>
            </a:r>
            <a:r>
              <a:rPr i="1"/>
              <a:t>before</a:t>
            </a:r>
            <a:r>
              <a:rPr/>
              <a:t> reaching the LLM.</a:t>
            </a:r>
          </a:p>
          <a:p>
            <a:pPr lvl="0"/>
            <a:r>
              <a:rPr b="1"/>
              <a:t>Costs and Chargeback:</a:t>
            </a:r>
            <a:r>
              <a:rPr/>
              <a:t> Exact traceability of token consumption (Ingress and Egress) for each Business Unit.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6: Phase 5 - Operations and Observability (APIOps)</a:t>
            </a:r>
          </a:p>
          <a:p>
            <a:pPr lvl="0" indent="0" marL="0">
              <a:buNone/>
            </a:pPr>
            <a:r>
              <a:rPr b="1"/>
              <a:t>100% Automation and Centralized Telemetry:</a:t>
            </a:r>
          </a:p>
          <a:p>
            <a:pPr lvl="0"/>
            <a:r>
              <a:rPr b="1"/>
              <a:t>APIOps (decK):</a:t>
            </a:r>
            <a:r>
              <a:rPr/>
              <a:t> Pipeline based on a GitOps Monorepo. Declarative deployment from Swagger/OAS using the </a:t>
            </a:r>
            <a:r>
              <a:rPr>
                <a:latin typeface="Courier"/>
              </a:rPr>
              <a:t>deck</a:t>
            </a:r>
            <a:r>
              <a:rPr/>
              <a:t> CLI.</a:t>
            </a:r>
          </a:p>
          <a:p>
            <a:pPr lvl="0"/>
            <a:r>
              <a:rPr b="1"/>
              <a:t>OpenTelemetry:</a:t>
            </a:r>
            <a:r>
              <a:rPr/>
              <a:t> Global OTel plugin integration.</a:t>
            </a:r>
          </a:p>
          <a:p>
            <a:pPr lvl="0"/>
            <a:r>
              <a:rPr b="1"/>
              <a:t>Signoz (Backend):</a:t>
            </a:r>
            <a:r>
              <a:rPr/>
              <a:t> Traces, Logs, and Metrics visualized in real-time without aggressively instrumenting the backend applications.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7: Live Demonstration</a:t>
            </a:r>
          </a:p>
          <a:p>
            <a:pPr lvl="0" indent="0" marL="0">
              <a:buNone/>
            </a:pPr>
            <a:r>
              <a:rPr b="1"/>
              <a:t>Architecture Flow in Action:</a:t>
            </a:r>
          </a:p>
          <a:p>
            <a:pPr lvl="0" indent="-342900" marL="342900">
              <a:buAutoNum type="arabicPeriod"/>
            </a:pPr>
            <a:r>
              <a:rPr b="1"/>
              <a:t>APIOps:</a:t>
            </a:r>
            <a:r>
              <a:rPr/>
              <a:t> Automated deployment and validation of APIs (</a:t>
            </a:r>
            <a:r>
              <a:rPr>
                <a:latin typeface="Courier"/>
              </a:rPr>
              <a:t>verify_day2_configurations.sh</a:t>
            </a:r>
            <a:r>
              <a:rPr/>
              <a:t>).</a:t>
            </a:r>
          </a:p>
          <a:p>
            <a:pPr lvl="0" indent="-342900" marL="342900">
              <a:buAutoNum type="arabicPeriod"/>
            </a:pPr>
            <a:r>
              <a:rPr b="1"/>
              <a:t>Security and Traffic:</a:t>
            </a:r>
            <a:r>
              <a:rPr/>
              <a:t> Successful OIDC requests and rate limit checks (</a:t>
            </a:r>
            <a:r>
              <a:rPr>
                <a:latin typeface="Courier"/>
              </a:rPr>
              <a:t>Rate Limiting</a:t>
            </a:r>
            <a:r>
              <a:rPr/>
              <a:t>).</a:t>
            </a:r>
          </a:p>
          <a:p>
            <a:pPr lvl="0" indent="-342900" marL="342900">
              <a:buAutoNum type="arabicPeriod"/>
            </a:pPr>
            <a:r>
              <a:rPr b="1"/>
              <a:t>AI in Action:</a:t>
            </a:r>
            <a:r>
              <a:rPr/>
              <a:t> Successful OpenAI consumption and </a:t>
            </a:r>
            <a:r>
              <a:rPr b="1"/>
              <a:t>real-time blocking</a:t>
            </a:r>
            <a:r>
              <a:rPr/>
              <a:t> of a credit card by the </a:t>
            </a:r>
            <a:r>
              <a:rPr>
                <a:latin typeface="Courier"/>
              </a:rPr>
              <a:t>ai-prompt-guard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 b="1"/>
              <a:t>Total Visibility:</a:t>
            </a:r>
            <a:r>
              <a:rPr/>
              <a:t> Massive traffic generation (</a:t>
            </a:r>
            <a:r>
              <a:rPr>
                <a:latin typeface="Courier"/>
              </a:rPr>
              <a:t>generate_traffic.sh</a:t>
            </a:r>
            <a:r>
              <a:rPr/>
              <a:t>) and live trace monitoring in </a:t>
            </a:r>
            <a:r>
              <a:rPr b="1"/>
              <a:t>Signoz</a:t>
            </a:r>
            <a:r>
              <a:rPr/>
              <a:t>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Slide 8: Next Steps (Roadmap)</a:t>
            </a:r>
          </a:p>
          <a:p>
            <a:pPr lvl="0" indent="0" marL="0">
              <a:buNone/>
            </a:pPr>
            <a:r>
              <a:rPr b="1"/>
              <a:t>The future of the Bank’s API Platform:</a:t>
            </a:r>
          </a:p>
          <a:p>
            <a:pPr lvl="0"/>
            <a:r>
              <a:rPr b="1"/>
              <a:t>Kong Operator:</a:t>
            </a:r>
            <a:r>
              <a:rPr/>
              <a:t> Evolution towards native Kubernetes ingress traffic in the EKS cluster using the modern Gateway API.</a:t>
            </a:r>
          </a:p>
          <a:p>
            <a:pPr lvl="0"/>
            <a:r>
              <a:rPr b="1"/>
              <a:t>Kong Mesh:</a:t>
            </a:r>
            <a:r>
              <a:rPr/>
              <a:t> Service Mesh (mTLS) implementation to guarantee internal Zero-Trust security between core microservices.</a:t>
            </a:r>
          </a:p>
          <a:p>
            <a:pPr lvl="0"/>
            <a:r>
              <a:rPr b="1"/>
              <a:t>Custom Plugins (Go/Rust):</a:t>
            </a:r>
            <a:r>
              <a:rPr/>
              <a:t> Building high-speed plugins for highly specific business logic (e.g., ISO8583 protocol transformations).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End of slides.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2026-09-18T01:58:10Z</dcterms:created>
  <dcterms:modified xsi:type="dcterms:W3CDTF">2026-09-18T01:58:10Z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
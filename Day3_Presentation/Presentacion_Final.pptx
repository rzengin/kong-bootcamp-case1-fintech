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bold r:id="rId19"/>
      <p:boldItalic r:id="rId20"/>
    </p:embeddedFont>
    <p:embeddedFont>
      <p:font typeface="Inter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av0ZdpCp2OB2b9ED+pgR98AhD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InterMedium-bold.fntdata"/><Relationship Id="rId21" Type="http://schemas.openxmlformats.org/officeDocument/2006/relationships/font" Target="fonts/InterMedium-regular.fntdata"/><Relationship Id="rId24" Type="http://schemas.openxmlformats.org/officeDocument/2006/relationships/font" Target="fonts/InterMedium-boldItalic.fntdata"/><Relationship Id="rId23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-bold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0" name="Google Shape;20;p13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40" name="Google Shape;4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1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7" name="Google Shape;47;p1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1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85" name="Google Shape;85;p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5098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2"/>
          <p:cNvGrpSpPr/>
          <p:nvPr/>
        </p:nvGrpSpPr>
        <p:grpSpPr>
          <a:xfrm>
            <a:off x="757238" y="681038"/>
            <a:ext cx="7624763" cy="2938463"/>
            <a:chOff x="757238" y="681038"/>
            <a:chExt cx="7624763" cy="2938463"/>
          </a:xfrm>
        </p:grpSpPr>
        <p:cxnSp>
          <p:nvCxnSpPr>
            <p:cNvPr id="88" name="Google Shape;88;p2"/>
            <p:cNvCxnSpPr/>
            <p:nvPr/>
          </p:nvCxnSpPr>
          <p:spPr>
            <a:xfrm>
              <a:off x="762000" y="11430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2"/>
            <p:cNvCxnSpPr/>
            <p:nvPr/>
          </p:nvCxnSpPr>
          <p:spPr>
            <a:xfrm>
              <a:off x="762000" y="3619500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E29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90" name="Google Shape;9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57238" y="681038"/>
              <a:ext cx="1609800" cy="276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" name="Google Shape;91;p2"/>
          <p:cNvSpPr txBox="1"/>
          <p:nvPr/>
        </p:nvSpPr>
        <p:spPr>
          <a:xfrm>
            <a:off x="876300" y="685800"/>
            <a:ext cx="1371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CASO DE ESTUDIO</a:t>
            </a:r>
            <a:endParaRPr b="1" sz="9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762000" y="1333500"/>
            <a:ext cx="7620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Implementación Kong Konnect &amp; </a:t>
            </a:r>
            <a:r>
              <a:rPr b="1" lang="en-US" sz="3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AI Gateway</a:t>
            </a:r>
            <a:endParaRPr b="1" sz="38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762000" y="2809875"/>
            <a:ext cx="7620000" cy="533400"/>
            <a:chOff x="0" y="0"/>
            <a:chExt cx="7620000" cy="533400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38100" cy="5334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90500" y="0"/>
              <a:ext cx="74295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Caso 1: </a:t>
              </a:r>
              <a:r>
                <a:rPr b="0" lang="en-US" sz="2000">
                  <a:solidFill>
                    <a:srgbClr val="E2E8F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Global Fintech Banco</a:t>
              </a:r>
              <a:endParaRPr b="0" sz="20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96" name="Google Shape;96;p2"/>
          <p:cNvGrpSpPr/>
          <p:nvPr/>
        </p:nvGrpSpPr>
        <p:grpSpPr>
          <a:xfrm>
            <a:off x="762000" y="3924300"/>
            <a:ext cx="4381500" cy="609600"/>
            <a:chOff x="0" y="0"/>
            <a:chExt cx="4381500" cy="609600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4381500" cy="609600"/>
            </a:xfrm>
            <a:prstGeom prst="roundRect">
              <a:avLst>
                <a:gd fmla="val 18750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0500" y="0"/>
              <a:ext cx="40005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PRESENTADOR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[Tu Nombre]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US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|</a:t>
              </a:r>
              <a:r>
                <a:rPr b="0" lang="en-US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b="0" lang="en-US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Arquitecto de Soluciones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4" name="Google Shape;104;p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1961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" name="Google Shape;106;p3"/>
          <p:cNvGrpSpPr/>
          <p:nvPr/>
        </p:nvGrpSpPr>
        <p:grpSpPr>
          <a:xfrm>
            <a:off x="457200" y="304800"/>
            <a:ext cx="8229600" cy="981000"/>
            <a:chOff x="0" y="0"/>
            <a:chExt cx="8229600" cy="981000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22860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0" y="0"/>
              <a:ext cx="2286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FASE 1 · DISCOVERY &amp; REQUISITOS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9" name="Google Shape;109;p3"/>
            <p:cNvSpPr txBox="1"/>
            <p:nvPr/>
          </p:nvSpPr>
          <p:spPr>
            <a:xfrm>
              <a:off x="0" y="266700"/>
              <a:ext cx="82296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El Desafío del Cliente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El banco presentaba arquitecturas monolíticas y silos, afectando el “Time to Market” y la seguridad en la adopción de nuevas tecnologías.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0" name="Google Shape;110;p3"/>
          <p:cNvGrpSpPr/>
          <p:nvPr/>
        </p:nvGrpSpPr>
        <p:grpSpPr>
          <a:xfrm>
            <a:off x="457200" y="1352550"/>
            <a:ext cx="4038600" cy="705000"/>
            <a:chOff x="0" y="0"/>
            <a:chExt cx="4038600" cy="705000"/>
          </a:xfrm>
        </p:grpSpPr>
        <p:sp>
          <p:nvSpPr>
            <p:cNvPr id="111" name="Google Shape;111;p3"/>
            <p:cNvSpPr/>
            <p:nvPr/>
          </p:nvSpPr>
          <p:spPr>
            <a:xfrm>
              <a:off x="0" y="0"/>
              <a:ext cx="4038600" cy="705000"/>
            </a:xfrm>
            <a:prstGeom prst="roundRect">
              <a:avLst>
                <a:gd fmla="val 13513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0" y="0"/>
              <a:ext cx="38100" cy="7050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3"/>
            <p:cNvSpPr txBox="1"/>
            <p:nvPr/>
          </p:nvSpPr>
          <p:spPr>
            <a:xfrm>
              <a:off x="152400" y="0"/>
              <a:ext cx="37530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Silos y Cuellos de Botella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Equipos de Tarjetas, Préstamos y Banca Personal bloqueados por infraestructura central.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" name="Google Shape;114;p3"/>
          <p:cNvGrpSpPr/>
          <p:nvPr/>
        </p:nvGrpSpPr>
        <p:grpSpPr>
          <a:xfrm>
            <a:off x="457200" y="2152650"/>
            <a:ext cx="4038600" cy="705000"/>
            <a:chOff x="0" y="0"/>
            <a:chExt cx="4038600" cy="705000"/>
          </a:xfrm>
        </p:grpSpPr>
        <p:sp>
          <p:nvSpPr>
            <p:cNvPr id="115" name="Google Shape;115;p3"/>
            <p:cNvSpPr/>
            <p:nvPr/>
          </p:nvSpPr>
          <p:spPr>
            <a:xfrm>
              <a:off x="0" y="0"/>
              <a:ext cx="4038600" cy="705000"/>
            </a:xfrm>
            <a:prstGeom prst="roundRect">
              <a:avLst>
                <a:gd fmla="val 13513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0" y="0"/>
              <a:ext cx="38100" cy="7050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3"/>
            <p:cNvSpPr txBox="1"/>
            <p:nvPr/>
          </p:nvSpPr>
          <p:spPr>
            <a:xfrm>
              <a:off x="152400" y="0"/>
              <a:ext cx="37530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Rendimiento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Latencia alta en sistemas core bajo picos de tráfico.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8" name="Google Shape;118;p3"/>
          <p:cNvGrpSpPr/>
          <p:nvPr/>
        </p:nvGrpSpPr>
        <p:grpSpPr>
          <a:xfrm>
            <a:off x="457200" y="2952750"/>
            <a:ext cx="4038600" cy="705000"/>
            <a:chOff x="0" y="0"/>
            <a:chExt cx="4038600" cy="705000"/>
          </a:xfrm>
        </p:grpSpPr>
        <p:sp>
          <p:nvSpPr>
            <p:cNvPr id="119" name="Google Shape;119;p3"/>
            <p:cNvSpPr/>
            <p:nvPr/>
          </p:nvSpPr>
          <p:spPr>
            <a:xfrm>
              <a:off x="0" y="0"/>
              <a:ext cx="4038600" cy="705000"/>
            </a:xfrm>
            <a:prstGeom prst="roundRect">
              <a:avLst>
                <a:gd fmla="val 13513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0" y="0"/>
              <a:ext cx="38100" cy="7050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152400" y="0"/>
              <a:ext cx="37530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Seguridad e IA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Necesidad de adoptar LLMs sin riesgo de fuga de datos sensibles (PII).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457200" y="3752850"/>
            <a:ext cx="4038600" cy="705000"/>
            <a:chOff x="0" y="0"/>
            <a:chExt cx="4038600" cy="705000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4038600" cy="705000"/>
            </a:xfrm>
            <a:prstGeom prst="roundRect">
              <a:avLst>
                <a:gd fmla="val 13513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0" y="0"/>
              <a:ext cx="38100" cy="7050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152400" y="0"/>
              <a:ext cx="3753000" cy="7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Experiencia de Desarrollador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Onboarding de partners B2B extremadamente lento.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" name="Google Shape;126;p3"/>
          <p:cNvGrpSpPr/>
          <p:nvPr/>
        </p:nvGrpSpPr>
        <p:grpSpPr>
          <a:xfrm>
            <a:off x="4686300" y="1230630"/>
            <a:ext cx="4000500" cy="3227220"/>
            <a:chOff x="0" y="-121920"/>
            <a:chExt cx="4000500" cy="3227220"/>
          </a:xfrm>
        </p:grpSpPr>
        <p:sp>
          <p:nvSpPr>
            <p:cNvPr id="127" name="Google Shape;127;p3"/>
            <p:cNvSpPr/>
            <p:nvPr/>
          </p:nvSpPr>
          <p:spPr>
            <a:xfrm>
              <a:off x="0" y="0"/>
              <a:ext cx="4000500" cy="3105300"/>
            </a:xfrm>
            <a:prstGeom prst="roundRect">
              <a:avLst>
                <a:gd fmla="val 3680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0" y="0"/>
              <a:ext cx="4000500" cy="304800"/>
            </a:xfrm>
            <a:prstGeom prst="roundRect">
              <a:avLst>
                <a:gd fmla="val 0" name="adj"/>
              </a:avLst>
            </a:prstGeom>
            <a:solidFill>
              <a:srgbClr val="0F172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3"/>
            <p:cNvSpPr txBox="1"/>
            <p:nvPr/>
          </p:nvSpPr>
          <p:spPr>
            <a:xfrm>
              <a:off x="152400" y="-121920"/>
              <a:ext cx="3695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MAPEO: REQUISITOS vs. ARQUITECTURA</a:t>
              </a:r>
              <a:endParaRPr b="1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30" name="Google Shape;130;p3"/>
          <p:cNvPicPr preferRelativeResize="0"/>
          <p:nvPr/>
        </p:nvPicPr>
        <p:blipFill rotWithShape="1">
          <a:blip r:embed="rId4">
            <a:alphaModFix/>
          </a:blip>
          <a:srcRect b="2598" l="0" r="0" t="2598"/>
          <a:stretch/>
        </p:blipFill>
        <p:spPr>
          <a:xfrm>
            <a:off x="4762500" y="1733550"/>
            <a:ext cx="3848100" cy="26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6" name="Google Shape;136;p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1961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4"/>
          <p:cNvGrpSpPr/>
          <p:nvPr/>
        </p:nvGrpSpPr>
        <p:grpSpPr>
          <a:xfrm>
            <a:off x="457200" y="285750"/>
            <a:ext cx="2381400" cy="209700"/>
            <a:chOff x="0" y="0"/>
            <a:chExt cx="2381400" cy="20970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23814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0"/>
              <a:ext cx="23814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FASE 2 · ARQUITECTURA Y DISEÑO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1" name="Google Shape;141;p4"/>
          <p:cNvSpPr txBox="1"/>
          <p:nvPr/>
        </p:nvSpPr>
        <p:spPr>
          <a:xfrm>
            <a:off x="457200" y="552450"/>
            <a:ext cx="8229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Arquitectura Híbrida Optimizada para Fintech</a:t>
            </a:r>
            <a:endParaRPr b="1" sz="2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Decidimos separar el plano de control (Konnect) del plano de datos (EKS), garantizando aislamiento, cumplimiento PCI-DSS y ultra baja latencia.</a:t>
            </a:r>
            <a:endParaRPr b="0" sz="10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2" name="Google Shape;142;p4"/>
          <p:cNvGrpSpPr/>
          <p:nvPr/>
        </p:nvGrpSpPr>
        <p:grpSpPr>
          <a:xfrm>
            <a:off x="457200" y="1352550"/>
            <a:ext cx="3981600" cy="838200"/>
            <a:chOff x="0" y="0"/>
            <a:chExt cx="3981600" cy="838200"/>
          </a:xfrm>
        </p:grpSpPr>
        <p:sp>
          <p:nvSpPr>
            <p:cNvPr id="143" name="Google Shape;143;p4"/>
            <p:cNvSpPr/>
            <p:nvPr/>
          </p:nvSpPr>
          <p:spPr>
            <a:xfrm>
              <a:off x="0" y="0"/>
              <a:ext cx="3981600" cy="838200"/>
            </a:xfrm>
            <a:prstGeom prst="roundRect">
              <a:avLst>
                <a:gd fmla="val 11363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0" y="0"/>
              <a:ext cx="38100" cy="8382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171450" y="0"/>
              <a:ext cx="3676800" cy="8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Control Plane en Konnect (SaaS)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Gobernanza centralizada (Single Pane of Glass) y RBAC estricto para máxima seguridad y control.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457200" y="2305050"/>
            <a:ext cx="3981600" cy="2152800"/>
            <a:chOff x="0" y="0"/>
            <a:chExt cx="3981600" cy="2152800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3981600" cy="2152800"/>
            </a:xfrm>
            <a:prstGeom prst="roundRect">
              <a:avLst>
                <a:gd fmla="val 4424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0" y="0"/>
              <a:ext cx="38100" cy="21528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4"/>
            <p:cNvSpPr txBox="1"/>
            <p:nvPr/>
          </p:nvSpPr>
          <p:spPr>
            <a:xfrm>
              <a:off x="171450" y="0"/>
              <a:ext cx="3676800" cy="21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5 Data Planes Dedicados (EKS)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en-US" sz="95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4 Data Planes Transaccionales:</a:t>
              </a:r>
              <a:r>
                <a:rPr lang="en-US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Aislamiento total entre BUs (Tarjetas, Préstamos, Core, Personal).</a:t>
              </a:r>
              <a:endParaRPr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8892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950"/>
                <a:buFont typeface="Inter"/>
                <a:buChar char="●"/>
              </a:pPr>
              <a:r>
                <a:rPr b="0" lang="en-US" sz="95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1 Data Plane Dedicado de IA:</a:t>
              </a:r>
              <a:r>
                <a:rPr lang="en-US" sz="95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Basado en </a:t>
              </a:r>
              <a:r>
                <a:rPr lang="en-US" sz="9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kong-ai-gateway</a:t>
              </a:r>
              <a:r>
                <a:rPr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para aislar cargas de cómputo intensivo de tokens.</a:t>
              </a:r>
              <a:endParaRPr sz="9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4610100" y="1352550"/>
            <a:ext cx="4076700" cy="3105300"/>
            <a:chOff x="0" y="0"/>
            <a:chExt cx="4076700" cy="3105300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4076700" cy="3105300"/>
            </a:xfrm>
            <a:prstGeom prst="roundRect">
              <a:avLst>
                <a:gd fmla="val 3680" name="adj"/>
              </a:avLst>
            </a:prstGeom>
            <a:solidFill>
              <a:srgbClr val="1E293B">
                <a:alpha val="5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0" y="0"/>
              <a:ext cx="4076700" cy="304800"/>
            </a:xfrm>
            <a:prstGeom prst="roundRect">
              <a:avLst>
                <a:gd fmla="val 0" name="adj"/>
              </a:avLst>
            </a:prstGeom>
            <a:solidFill>
              <a:srgbClr val="0F172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152400" y="0"/>
              <a:ext cx="3771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BLUEPRINT DE ARQUITECTURA TÉCNICA</a:t>
              </a:r>
              <a:endParaRPr b="1" sz="8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54" name="Google Shape;154;p4"/>
          <p:cNvPicPr preferRelativeResize="0"/>
          <p:nvPr/>
        </p:nvPicPr>
        <p:blipFill rotWithShape="1">
          <a:blip r:embed="rId4">
            <a:alphaModFix/>
          </a:blip>
          <a:srcRect b="0" l="19916" r="19916" t="0"/>
          <a:stretch/>
        </p:blipFill>
        <p:spPr>
          <a:xfrm>
            <a:off x="4686300" y="1733550"/>
            <a:ext cx="392430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60" name="Google Shape;160;p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1961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" name="Google Shape;162;p5"/>
          <p:cNvGrpSpPr/>
          <p:nvPr/>
        </p:nvGrpSpPr>
        <p:grpSpPr>
          <a:xfrm>
            <a:off x="457200" y="285750"/>
            <a:ext cx="8229600" cy="981000"/>
            <a:chOff x="0" y="0"/>
            <a:chExt cx="8229600" cy="981000"/>
          </a:xfrm>
        </p:grpSpPr>
        <p:sp>
          <p:nvSpPr>
            <p:cNvPr id="163" name="Google Shape;163;p5"/>
            <p:cNvSpPr/>
            <p:nvPr/>
          </p:nvSpPr>
          <p:spPr>
            <a:xfrm>
              <a:off x="0" y="0"/>
              <a:ext cx="24765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0" y="0"/>
              <a:ext cx="24765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FASE 3 · SEGURIDAD Y TRÁFICO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0" y="266700"/>
              <a:ext cx="82296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Gobernanza a Nivel de API sin Tocar Código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Implementación de políticas avanzadas de control de tráfico, identidad centralizada y almacenamiento en caché directo en el Gateway.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457200" y="1352550"/>
            <a:ext cx="8229600" cy="876300"/>
            <a:chOff x="0" y="0"/>
            <a:chExt cx="8229600" cy="876300"/>
          </a:xfrm>
        </p:grpSpPr>
        <p:sp>
          <p:nvSpPr>
            <p:cNvPr id="167" name="Google Shape;167;p5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Rate Limiting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429 Too Many Requests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Implementado en el ecosistema de Tarjetas para proteger APIs legadas contra picos de peticiones desmedidos y ataques de denegación de servicio.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5"/>
          <p:cNvGrpSpPr/>
          <p:nvPr/>
        </p:nvGrpSpPr>
        <p:grpSpPr>
          <a:xfrm>
            <a:off x="457200" y="2400300"/>
            <a:ext cx="8229600" cy="876300"/>
            <a:chOff x="0" y="0"/>
            <a:chExt cx="8229600" cy="876300"/>
          </a:xfrm>
        </p:grpSpPr>
        <p:sp>
          <p:nvSpPr>
            <p:cNvPr id="171" name="Google Shape;171;p5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OpenID Connect (OIDC)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Keycloak Identity Provider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Integración nativa con el Identity Provider del banco (Keycloak) para la validación estricta, desacoplada y de alta velocidad de tokens Bearer.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" name="Google Shape;174;p5"/>
          <p:cNvGrpSpPr/>
          <p:nvPr/>
        </p:nvGrpSpPr>
        <p:grpSpPr>
          <a:xfrm>
            <a:off x="457200" y="3448050"/>
            <a:ext cx="8229600" cy="876300"/>
            <a:chOff x="0" y="0"/>
            <a:chExt cx="8229600" cy="876300"/>
          </a:xfrm>
        </p:grpSpPr>
        <p:sp>
          <p:nvSpPr>
            <p:cNvPr id="175" name="Google Shape;175;p5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5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Proxy-Cache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Ultra-low Latency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Almacenamiento en caché inteligente de respuestas frecuentes para reducir la latencia global y liberar la carga sobre microservicios sobrecargados.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1961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" name="Google Shape;185;p6"/>
          <p:cNvGrpSpPr/>
          <p:nvPr/>
        </p:nvGrpSpPr>
        <p:grpSpPr>
          <a:xfrm>
            <a:off x="457200" y="285750"/>
            <a:ext cx="8229600" cy="981000"/>
            <a:chOff x="0" y="0"/>
            <a:chExt cx="8229600" cy="981000"/>
          </a:xfrm>
        </p:grpSpPr>
        <p:sp>
          <p:nvSpPr>
            <p:cNvPr id="186" name="Google Shape;186;p6"/>
            <p:cNvSpPr/>
            <p:nvPr/>
          </p:nvSpPr>
          <p:spPr>
            <a:xfrm>
              <a:off x="0" y="0"/>
              <a:ext cx="26670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0" y="0"/>
              <a:ext cx="2667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FASE 4 · AI GATEWAY &amp; SEGURIDAD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8" name="Google Shape;188;p6"/>
            <p:cNvSpPr txBox="1"/>
            <p:nvPr/>
          </p:nvSpPr>
          <p:spPr>
            <a:xfrm>
              <a:off x="0" y="266700"/>
              <a:ext cx="82296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Protegiendo los Datos del Banco y Controlando Costos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Gobierno centralizado de inteligencia artificial con seguridad DLP en tiempo real y trazabilidad granular de consumo.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9" name="Google Shape;189;p6"/>
          <p:cNvGrpSpPr/>
          <p:nvPr/>
        </p:nvGrpSpPr>
        <p:grpSpPr>
          <a:xfrm>
            <a:off x="457200" y="1352550"/>
            <a:ext cx="8229600" cy="876300"/>
            <a:chOff x="0" y="0"/>
            <a:chExt cx="8229600" cy="876300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Semantic Routing (UI)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/ai/chat/chat/completions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Enrutamiento semántico nativo. Los desarrolladores solo consumen el endpoint unificado sin tocar ni exponer credenciales de OpenAI.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457200" y="2400300"/>
            <a:ext cx="8229600" cy="876300"/>
            <a:chOff x="0" y="0"/>
            <a:chExt cx="8229600" cy="876300"/>
          </a:xfrm>
        </p:grpSpPr>
        <p:sp>
          <p:nvSpPr>
            <p:cNvPr id="194" name="Google Shape;194;p6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AI Prompt Guard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ai-prompt-guard (RegEx &amp; DLP)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Bloqueo instantáneo basado en Expresiones Regulares. Si el payload contiene datos sensibles (tarjetas de crédito), la petición se bloquea </a:t>
              </a:r>
              <a:r>
                <a:rPr b="0" i="1" lang="en-US" sz="9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antes</a:t>
              </a: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de llegar al LLM.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457200" y="3448050"/>
            <a:ext cx="8229600" cy="876300"/>
            <a:chOff x="0" y="0"/>
            <a:chExt cx="8229600" cy="876300"/>
          </a:xfrm>
        </p:grpSpPr>
        <p:sp>
          <p:nvSpPr>
            <p:cNvPr id="198" name="Google Shape;198;p6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Costos y Chargeback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Token Analytics &amp; Quotas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Trazabilidad exacta y auditoría del consumo de tokens (Prompt y Completion) desglosado por cada Unidad de Negocio.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06" name="Google Shape;206;p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1961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7"/>
          <p:cNvGrpSpPr/>
          <p:nvPr/>
        </p:nvGrpSpPr>
        <p:grpSpPr>
          <a:xfrm>
            <a:off x="457200" y="285750"/>
            <a:ext cx="8229600" cy="981000"/>
            <a:chOff x="0" y="0"/>
            <a:chExt cx="8229600" cy="981000"/>
          </a:xfrm>
        </p:grpSpPr>
        <p:sp>
          <p:nvSpPr>
            <p:cNvPr id="209" name="Google Shape;209;p7"/>
            <p:cNvSpPr/>
            <p:nvPr/>
          </p:nvSpPr>
          <p:spPr>
            <a:xfrm>
              <a:off x="0" y="0"/>
              <a:ext cx="30480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" name="Google Shape;210;p7"/>
            <p:cNvGrpSpPr/>
            <p:nvPr/>
          </p:nvGrpSpPr>
          <p:grpSpPr>
            <a:xfrm>
              <a:off x="0" y="0"/>
              <a:ext cx="3048000" cy="209700"/>
              <a:chOff x="0" y="0"/>
              <a:chExt cx="3048000" cy="209700"/>
            </a:xfrm>
          </p:grpSpPr>
          <p:sp>
            <p:nvSpPr>
              <p:cNvPr id="211" name="Google Shape;211;p7"/>
              <p:cNvSpPr/>
              <p:nvPr/>
            </p:nvSpPr>
            <p:spPr>
              <a:xfrm>
                <a:off x="0" y="0"/>
                <a:ext cx="3048000" cy="209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7"/>
              <p:cNvSpPr txBox="1"/>
              <p:nvPr/>
            </p:nvSpPr>
            <p:spPr>
              <a:xfrm>
                <a:off x="0" y="0"/>
                <a:ext cx="3048000" cy="2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80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FASE 5 · OPERATIVIDAD Y OBSERVABILIDAD</a:t>
                </a:r>
                <a:endParaRPr b="1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3" name="Google Shape;213;p7"/>
            <p:cNvGrpSpPr/>
            <p:nvPr/>
          </p:nvGrpSpPr>
          <p:grpSpPr>
            <a:xfrm>
              <a:off x="0" y="266700"/>
              <a:ext cx="8229600" cy="714300"/>
              <a:chOff x="0" y="0"/>
              <a:chExt cx="8229600" cy="714300"/>
            </a:xfrm>
          </p:grpSpPr>
          <p:sp>
            <p:nvSpPr>
              <p:cNvPr id="214" name="Google Shape;214;p7"/>
              <p:cNvSpPr/>
              <p:nvPr/>
            </p:nvSpPr>
            <p:spPr>
              <a:xfrm>
                <a:off x="0" y="0"/>
                <a:ext cx="82296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7"/>
              <p:cNvSpPr txBox="1"/>
              <p:nvPr/>
            </p:nvSpPr>
            <p:spPr>
              <a:xfrm>
                <a:off x="0" y="0"/>
                <a:ext cx="82296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100% Automatización y Telemetría Centralizada</a:t>
                </a:r>
                <a:endParaRPr b="1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0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Despliegue declarativo APIOps, estandarización de telemetría global y observabilidad integral en tiempo real.</a:t>
                </a:r>
                <a:endParaRPr b="0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6" name="Google Shape;216;p7"/>
          <p:cNvGrpSpPr/>
          <p:nvPr/>
        </p:nvGrpSpPr>
        <p:grpSpPr>
          <a:xfrm>
            <a:off x="457200" y="1352550"/>
            <a:ext cx="8229600" cy="876300"/>
            <a:chOff x="0" y="0"/>
            <a:chExt cx="8229600" cy="876300"/>
          </a:xfrm>
        </p:grpSpPr>
        <p:sp>
          <p:nvSpPr>
            <p:cNvPr id="217" name="Google Shape;217;p7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9" name="Google Shape;219;p7"/>
            <p:cNvGrpSpPr/>
            <p:nvPr/>
          </p:nvGrpSpPr>
          <p:grpSpPr>
            <a:xfrm>
              <a:off x="190500" y="0"/>
              <a:ext cx="7848600" cy="876300"/>
              <a:chOff x="0" y="0"/>
              <a:chExt cx="7848600" cy="876300"/>
            </a:xfrm>
          </p:grpSpPr>
          <p:sp>
            <p:nvSpPr>
              <p:cNvPr id="220" name="Google Shape;220;p7"/>
              <p:cNvSpPr/>
              <p:nvPr/>
            </p:nvSpPr>
            <p:spPr>
              <a:xfrm>
                <a:off x="0" y="0"/>
                <a:ext cx="7848600" cy="876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7"/>
              <p:cNvSpPr txBox="1"/>
              <p:nvPr/>
            </p:nvSpPr>
            <p:spPr>
              <a:xfrm>
                <a:off x="0" y="0"/>
                <a:ext cx="78486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APIOps (decK) </a:t>
                </a:r>
                <a:r>
                  <a:rPr b="0"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GitOps Monorepo &amp; CLI deck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Pipeline basado en un GitOps Monorepo. Despliegue declarativo desde Swagger/OAS usando el CLI deck.</a:t>
                </a:r>
                <a:endParaRPr b="0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2" name="Google Shape;222;p7"/>
          <p:cNvGrpSpPr/>
          <p:nvPr/>
        </p:nvGrpSpPr>
        <p:grpSpPr>
          <a:xfrm>
            <a:off x="457200" y="2400300"/>
            <a:ext cx="8229600" cy="876300"/>
            <a:chOff x="0" y="0"/>
            <a:chExt cx="8229600" cy="876300"/>
          </a:xfrm>
        </p:grpSpPr>
        <p:sp>
          <p:nvSpPr>
            <p:cNvPr id="223" name="Google Shape;223;p7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5" name="Google Shape;225;p7"/>
            <p:cNvGrpSpPr/>
            <p:nvPr/>
          </p:nvGrpSpPr>
          <p:grpSpPr>
            <a:xfrm>
              <a:off x="190500" y="0"/>
              <a:ext cx="7848600" cy="876300"/>
              <a:chOff x="0" y="0"/>
              <a:chExt cx="7848600" cy="876300"/>
            </a:xfrm>
          </p:grpSpPr>
          <p:sp>
            <p:nvSpPr>
              <p:cNvPr id="226" name="Google Shape;226;p7"/>
              <p:cNvSpPr/>
              <p:nvPr/>
            </p:nvSpPr>
            <p:spPr>
              <a:xfrm>
                <a:off x="0" y="0"/>
                <a:ext cx="7848600" cy="876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7"/>
              <p:cNvSpPr txBox="1"/>
              <p:nvPr/>
            </p:nvSpPr>
            <p:spPr>
              <a:xfrm>
                <a:off x="0" y="0"/>
                <a:ext cx="78486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OpenTelemetry </a:t>
                </a:r>
                <a:r>
                  <a:rPr b="0"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Global OTel Plugin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Se integró el plugin OTel de forma global para estandarizar la recolección de métricas y trazas distribuidas.</a:t>
                </a:r>
                <a:endParaRPr b="0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28" name="Google Shape;228;p7"/>
          <p:cNvGrpSpPr/>
          <p:nvPr/>
        </p:nvGrpSpPr>
        <p:grpSpPr>
          <a:xfrm>
            <a:off x="457200" y="3448050"/>
            <a:ext cx="8229600" cy="876300"/>
            <a:chOff x="0" y="0"/>
            <a:chExt cx="8229600" cy="876300"/>
          </a:xfrm>
        </p:grpSpPr>
        <p:sp>
          <p:nvSpPr>
            <p:cNvPr id="229" name="Google Shape;229;p7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1" name="Google Shape;231;p7"/>
            <p:cNvGrpSpPr/>
            <p:nvPr/>
          </p:nvGrpSpPr>
          <p:grpSpPr>
            <a:xfrm>
              <a:off x="190500" y="0"/>
              <a:ext cx="7848600" cy="876300"/>
              <a:chOff x="0" y="0"/>
              <a:chExt cx="7848600" cy="876300"/>
            </a:xfrm>
          </p:grpSpPr>
          <p:sp>
            <p:nvSpPr>
              <p:cNvPr id="232" name="Google Shape;232;p7"/>
              <p:cNvSpPr/>
              <p:nvPr/>
            </p:nvSpPr>
            <p:spPr>
              <a:xfrm>
                <a:off x="0" y="0"/>
                <a:ext cx="7848600" cy="876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7"/>
              <p:cNvSpPr txBox="1"/>
              <p:nvPr/>
            </p:nvSpPr>
            <p:spPr>
              <a:xfrm>
                <a:off x="0" y="0"/>
                <a:ext cx="7848600" cy="87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F8FAFC"/>
                    </a:solidFill>
                    <a:latin typeface="Inter"/>
                    <a:ea typeface="Inter"/>
                    <a:cs typeface="Inter"/>
                    <a:sym typeface="Inter"/>
                  </a:rPr>
                  <a:t>Signoz (Backend) </a:t>
                </a:r>
                <a:r>
                  <a:rPr b="0" lang="en-US" sz="850">
                    <a:solidFill>
                      <a:srgbClr val="38BDF8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Full-Stack Real-Time Analytics</a:t>
                </a:r>
                <a:endParaRPr b="1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300"/>
                  </a:spcAft>
                  <a:buNone/>
                </a:pPr>
                <a:r>
                  <a:rPr b="0" lang="en-US" sz="950">
                    <a:solidFill>
                      <a:srgbClr val="94A3B8"/>
                    </a:solidFill>
                    <a:latin typeface="Inter"/>
                    <a:ea typeface="Inter"/>
                    <a:cs typeface="Inter"/>
                    <a:sym typeface="Inter"/>
                  </a:rPr>
                  <a:t>Trazas, Logs y Métricas visualizadas en tiempo real sin tener que instrumentar agresivamente las aplicaciones de backend.</a:t>
                </a:r>
                <a:endParaRPr b="0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39" name="Google Shape;239;p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1961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8"/>
          <p:cNvGrpSpPr/>
          <p:nvPr/>
        </p:nvGrpSpPr>
        <p:grpSpPr>
          <a:xfrm>
            <a:off x="457200" y="238125"/>
            <a:ext cx="8229600" cy="866850"/>
            <a:chOff x="0" y="0"/>
            <a:chExt cx="8229600" cy="866850"/>
          </a:xfrm>
        </p:grpSpPr>
        <p:sp>
          <p:nvSpPr>
            <p:cNvPr id="242" name="Google Shape;242;p8"/>
            <p:cNvSpPr/>
            <p:nvPr/>
          </p:nvSpPr>
          <p:spPr>
            <a:xfrm>
              <a:off x="0" y="0"/>
              <a:ext cx="26670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0" y="0"/>
              <a:ext cx="2667000" cy="2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DEMOSTRACIÓN EN VIVO · ARQUITECTURA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4" name="Google Shape;244;p8"/>
            <p:cNvSpPr txBox="1"/>
            <p:nvPr/>
          </p:nvSpPr>
          <p:spPr>
            <a:xfrm>
              <a:off x="0" y="247650"/>
              <a:ext cx="82296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Flujo de la Arquitectura en Acción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Validación interactiva de despliegue automatizado, seguridad, consumo de IA y observabilidad.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5" name="Google Shape;245;p8"/>
          <p:cNvGrpSpPr/>
          <p:nvPr/>
        </p:nvGrpSpPr>
        <p:grpSpPr>
          <a:xfrm>
            <a:off x="457200" y="1162050"/>
            <a:ext cx="8229600" cy="743100"/>
            <a:chOff x="0" y="0"/>
            <a:chExt cx="8229600" cy="743100"/>
          </a:xfrm>
        </p:grpSpPr>
        <p:sp>
          <p:nvSpPr>
            <p:cNvPr id="246" name="Google Shape;246;p8"/>
            <p:cNvSpPr/>
            <p:nvPr/>
          </p:nvSpPr>
          <p:spPr>
            <a:xfrm>
              <a:off x="0" y="0"/>
              <a:ext cx="8229600" cy="743100"/>
            </a:xfrm>
            <a:prstGeom prst="roundRect">
              <a:avLst>
                <a:gd fmla="val 1282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0" y="0"/>
              <a:ext cx="38100" cy="743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 txBox="1"/>
            <p:nvPr/>
          </p:nvSpPr>
          <p:spPr>
            <a:xfrm>
              <a:off x="190500" y="0"/>
              <a:ext cx="78486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1. APIOps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verify_day2_configurations.sh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Despliegue automatizado y validación de las APIs en el entorno.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8"/>
          <p:cNvGrpSpPr/>
          <p:nvPr/>
        </p:nvGrpSpPr>
        <p:grpSpPr>
          <a:xfrm>
            <a:off x="457200" y="2019300"/>
            <a:ext cx="8229600" cy="743100"/>
            <a:chOff x="0" y="0"/>
            <a:chExt cx="8229600" cy="743100"/>
          </a:xfrm>
        </p:grpSpPr>
        <p:sp>
          <p:nvSpPr>
            <p:cNvPr id="250" name="Google Shape;250;p8"/>
            <p:cNvSpPr/>
            <p:nvPr/>
          </p:nvSpPr>
          <p:spPr>
            <a:xfrm>
              <a:off x="0" y="0"/>
              <a:ext cx="8229600" cy="743100"/>
            </a:xfrm>
            <a:prstGeom prst="roundRect">
              <a:avLst>
                <a:gd fmla="val 1282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0" y="0"/>
              <a:ext cx="38100" cy="743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190500" y="0"/>
              <a:ext cx="78486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2. Seguridad y Tráfico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Rate Limiting &amp; OIDC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Peticiones OIDC exitosas y comprobación de límites de tasa.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3" name="Google Shape;253;p8"/>
          <p:cNvGrpSpPr/>
          <p:nvPr/>
        </p:nvGrpSpPr>
        <p:grpSpPr>
          <a:xfrm>
            <a:off x="457200" y="2876550"/>
            <a:ext cx="8229600" cy="743100"/>
            <a:chOff x="0" y="0"/>
            <a:chExt cx="8229600" cy="743100"/>
          </a:xfrm>
        </p:grpSpPr>
        <p:sp>
          <p:nvSpPr>
            <p:cNvPr id="254" name="Google Shape;254;p8"/>
            <p:cNvSpPr/>
            <p:nvPr/>
          </p:nvSpPr>
          <p:spPr>
            <a:xfrm>
              <a:off x="0" y="0"/>
              <a:ext cx="8229600" cy="743100"/>
            </a:xfrm>
            <a:prstGeom prst="roundRect">
              <a:avLst>
                <a:gd fmla="val 1282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0" y="0"/>
              <a:ext cx="38100" cy="743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8"/>
            <p:cNvSpPr txBox="1"/>
            <p:nvPr/>
          </p:nvSpPr>
          <p:spPr>
            <a:xfrm>
              <a:off x="190500" y="0"/>
              <a:ext cx="78486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3. AI en Acción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ai-prompt-guard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Consumo exitoso de OpenAI y </a:t>
              </a:r>
              <a:r>
                <a:rPr b="0" i="1" lang="en-US" sz="95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bloqueo en tiempo real</a:t>
              </a: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de una tarjeta de crédito por el ai-prompt-guard.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7" name="Google Shape;257;p8"/>
          <p:cNvGrpSpPr/>
          <p:nvPr/>
        </p:nvGrpSpPr>
        <p:grpSpPr>
          <a:xfrm>
            <a:off x="457200" y="3733800"/>
            <a:ext cx="8229600" cy="743100"/>
            <a:chOff x="0" y="0"/>
            <a:chExt cx="8229600" cy="743100"/>
          </a:xfrm>
        </p:grpSpPr>
        <p:sp>
          <p:nvSpPr>
            <p:cNvPr id="258" name="Google Shape;258;p8"/>
            <p:cNvSpPr/>
            <p:nvPr/>
          </p:nvSpPr>
          <p:spPr>
            <a:xfrm>
              <a:off x="0" y="0"/>
              <a:ext cx="8229600" cy="743100"/>
            </a:xfrm>
            <a:prstGeom prst="roundRect">
              <a:avLst>
                <a:gd fmla="val 12820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0" y="0"/>
              <a:ext cx="38100" cy="7431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 txBox="1"/>
            <p:nvPr/>
          </p:nvSpPr>
          <p:spPr>
            <a:xfrm>
              <a:off x="190500" y="0"/>
              <a:ext cx="7848600" cy="74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4. Visibilidad Total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generate_traffic.sh &amp; Signoz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Generación masiva de tráfico y monitoreo de trazas en vivo en Signoz.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9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6" name="Google Shape;266;p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1961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18039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" name="Google Shape;268;p9"/>
          <p:cNvGrpSpPr/>
          <p:nvPr/>
        </p:nvGrpSpPr>
        <p:grpSpPr>
          <a:xfrm>
            <a:off x="457200" y="238125"/>
            <a:ext cx="8229600" cy="866850"/>
            <a:chOff x="0" y="0"/>
            <a:chExt cx="8229600" cy="866850"/>
          </a:xfrm>
        </p:grpSpPr>
        <p:sp>
          <p:nvSpPr>
            <p:cNvPr id="269" name="Google Shape;269;p9"/>
            <p:cNvSpPr/>
            <p:nvPr/>
          </p:nvSpPr>
          <p:spPr>
            <a:xfrm>
              <a:off x="0" y="0"/>
              <a:ext cx="2667000" cy="2097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9"/>
            <p:cNvSpPr txBox="1"/>
            <p:nvPr/>
          </p:nvSpPr>
          <p:spPr>
            <a:xfrm>
              <a:off x="0" y="0"/>
              <a:ext cx="26670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FASE 6 · SIGUIENTES PASOS (ROADMAP)</a:t>
              </a:r>
              <a:endParaRPr b="1" sz="8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1" name="Google Shape;271;p9"/>
            <p:cNvSpPr txBox="1"/>
            <p:nvPr/>
          </p:nvSpPr>
          <p:spPr>
            <a:xfrm>
              <a:off x="0" y="247650"/>
              <a:ext cx="82296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El Futuro de la Plataforma API del Banco</a:t>
              </a:r>
              <a:endParaRPr b="1" sz="2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Evoluciones técnicas planificadas para escalar la infraestructura y potenciar los microservicios core.</a:t>
              </a:r>
              <a:endParaRPr b="0" sz="10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2" name="Google Shape;272;p9"/>
          <p:cNvGrpSpPr/>
          <p:nvPr/>
        </p:nvGrpSpPr>
        <p:grpSpPr>
          <a:xfrm>
            <a:off x="457200" y="1352550"/>
            <a:ext cx="8229600" cy="876300"/>
            <a:chOff x="0" y="0"/>
            <a:chExt cx="8229600" cy="876300"/>
          </a:xfrm>
        </p:grpSpPr>
        <p:sp>
          <p:nvSpPr>
            <p:cNvPr id="273" name="Google Shape;273;p9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9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Kong Operator 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Kubernetes &amp; EKS Integration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Evolución hacia tráfico de entrada nativo de Kubernetes en el cluster EKS.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76" name="Google Shape;276;p9"/>
          <p:cNvGrpSpPr/>
          <p:nvPr/>
        </p:nvGrpSpPr>
        <p:grpSpPr>
          <a:xfrm>
            <a:off x="457200" y="2400300"/>
            <a:ext cx="8229600" cy="876300"/>
            <a:chOff x="0" y="0"/>
            <a:chExt cx="8229600" cy="876300"/>
          </a:xfrm>
        </p:grpSpPr>
        <p:sp>
          <p:nvSpPr>
            <p:cNvPr id="277" name="Google Shape;277;p9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9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Kong Mesh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Service Mesh (mTLS) &amp; Zero-Trust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Implementación de Service Mesh (mTLS) para garantizar seguridad Zero-Trust interna entre los microservicios core.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0" name="Google Shape;280;p9"/>
          <p:cNvGrpSpPr/>
          <p:nvPr/>
        </p:nvGrpSpPr>
        <p:grpSpPr>
          <a:xfrm>
            <a:off x="457200" y="3448050"/>
            <a:ext cx="8229600" cy="876300"/>
            <a:chOff x="0" y="0"/>
            <a:chExt cx="8229600" cy="876300"/>
          </a:xfrm>
        </p:grpSpPr>
        <p:sp>
          <p:nvSpPr>
            <p:cNvPr id="281" name="Google Shape;281;p9"/>
            <p:cNvSpPr/>
            <p:nvPr/>
          </p:nvSpPr>
          <p:spPr>
            <a:xfrm>
              <a:off x="0" y="0"/>
              <a:ext cx="8229600" cy="876300"/>
            </a:xfrm>
            <a:prstGeom prst="roundRect">
              <a:avLst>
                <a:gd fmla="val 1086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9"/>
            <p:cNvSpPr/>
            <p:nvPr/>
          </p:nvSpPr>
          <p:spPr>
            <a:xfrm>
              <a:off x="0" y="0"/>
              <a:ext cx="38100" cy="8763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190500" y="0"/>
              <a:ext cx="7848600" cy="8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Custom Plugins (Go/Rust) </a:t>
              </a:r>
              <a:r>
                <a:rPr b="0" lang="en-US" sz="850">
                  <a:solidFill>
                    <a:srgbClr val="38BD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High-Performance ISO8583 Logic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Construcción de plugins de alta velocidad para lógicas de negocio altamente específicas (ej. transformaciones de protocolos ISO8583).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89" name="Google Shape;289;p1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0284C7">
                    <a:alpha val="25098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gradFill>
              <a:gsLst>
                <a:gs pos="0">
                  <a:srgbClr val="6366F1">
                    <a:alpha val="20000"/>
                  </a:srgbClr>
                </a:gs>
                <a:gs pos="100000">
                  <a:srgbClr val="0B0F1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" name="Google Shape;291;p10"/>
          <p:cNvGrpSpPr/>
          <p:nvPr/>
        </p:nvGrpSpPr>
        <p:grpSpPr>
          <a:xfrm>
            <a:off x="3238500" y="1238250"/>
            <a:ext cx="2667000" cy="247800"/>
            <a:chOff x="0" y="0"/>
            <a:chExt cx="2667000" cy="247800"/>
          </a:xfrm>
        </p:grpSpPr>
        <p:sp>
          <p:nvSpPr>
            <p:cNvPr id="292" name="Google Shape;292;p10"/>
            <p:cNvSpPr/>
            <p:nvPr/>
          </p:nvSpPr>
          <p:spPr>
            <a:xfrm>
              <a:off x="0" y="0"/>
              <a:ext cx="2667000" cy="247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0"/>
            <p:cNvSpPr txBox="1"/>
            <p:nvPr/>
          </p:nvSpPr>
          <p:spPr>
            <a:xfrm>
              <a:off x="0" y="0"/>
              <a:ext cx="2667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PREGUNTAS &amp; RESPUESTAS</a:t>
              </a:r>
              <a:endParaRPr b="1" sz="8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94" name="Google Shape;294;p10"/>
          <p:cNvSpPr txBox="1"/>
          <p:nvPr/>
        </p:nvSpPr>
        <p:spPr>
          <a:xfrm>
            <a:off x="1143000" y="1666875"/>
            <a:ext cx="68580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¡Muchas Gracias!</a:t>
            </a:r>
            <a:endParaRPr b="1" sz="36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 de la presentación · Abrimos espacio para preguntas y discusión</a:t>
            </a:r>
            <a:endParaRPr b="0" sz="13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95" name="Google Shape;295;p10"/>
          <p:cNvGrpSpPr/>
          <p:nvPr/>
        </p:nvGrpSpPr>
        <p:grpSpPr>
          <a:xfrm>
            <a:off x="1524000" y="3048000"/>
            <a:ext cx="2857500" cy="1047900"/>
            <a:chOff x="0" y="0"/>
            <a:chExt cx="2857500" cy="1047900"/>
          </a:xfrm>
        </p:grpSpPr>
        <p:sp>
          <p:nvSpPr>
            <p:cNvPr id="296" name="Google Shape;296;p10"/>
            <p:cNvSpPr/>
            <p:nvPr/>
          </p:nvSpPr>
          <p:spPr>
            <a:xfrm>
              <a:off x="0" y="0"/>
              <a:ext cx="28575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0"/>
            <p:cNvSpPr txBox="1"/>
            <p:nvPr/>
          </p:nvSpPr>
          <p:spPr>
            <a:xfrm>
              <a:off x="228600" y="0"/>
              <a:ext cx="2438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Documentación &amp; Recurso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Acceso centralizado al repositorio GitOps, esquemas OAS y guías de arquitectura.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9" name="Google Shape;299;p10"/>
          <p:cNvGrpSpPr/>
          <p:nvPr/>
        </p:nvGrpSpPr>
        <p:grpSpPr>
          <a:xfrm>
            <a:off x="4762500" y="3048000"/>
            <a:ext cx="2857500" cy="1047900"/>
            <a:chOff x="0" y="0"/>
            <a:chExt cx="2857500" cy="1047900"/>
          </a:xfrm>
        </p:grpSpPr>
        <p:sp>
          <p:nvSpPr>
            <p:cNvPr id="300" name="Google Shape;300;p10"/>
            <p:cNvSpPr/>
            <p:nvPr/>
          </p:nvSpPr>
          <p:spPr>
            <a:xfrm>
              <a:off x="0" y="0"/>
              <a:ext cx="2857500" cy="1047900"/>
            </a:xfrm>
            <a:prstGeom prst="roundRect">
              <a:avLst>
                <a:gd fmla="val 10909" name="adj"/>
              </a:avLst>
            </a:prstGeom>
            <a:solidFill>
              <a:srgbClr val="1E293B">
                <a:alpha val="60000"/>
              </a:srgbClr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6366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0"/>
            <p:cNvSpPr txBox="1"/>
            <p:nvPr/>
          </p:nvSpPr>
          <p:spPr>
            <a:xfrm>
              <a:off x="228600" y="0"/>
              <a:ext cx="2438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Contacto &amp; Soporte</a:t>
              </a:r>
              <a:endParaRPr b="1" sz="11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9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Equipo de Plataforma API &amp; Seguridad para soporte y consultas de implementación.</a:t>
              </a:r>
              <a:endParaRPr b="0" sz="9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2026-09-18T01:24:13Z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